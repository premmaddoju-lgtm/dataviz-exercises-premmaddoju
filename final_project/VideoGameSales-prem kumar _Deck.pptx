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FINAL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418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36 Years of Video Game Sales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Shifts, Platforms, and Ratings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Prem Kumar Maddoju  ·  ID 72899543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2345A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8736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16,500+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9808" y="4599432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Catalogued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4872" y="397764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2345A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408736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Yrs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514600" y="4599432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– 2016 Coverage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9664" y="397764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2345A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408736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79392" y="4599432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NA · EU · JP · Other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34456" y="397764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2345A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4184" y="408736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44184" y="4599432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Tracked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goals: quantify regional demand shifts, genre localization, the critic-score-to-sales link, hardware-generation dominance, and ESRB revenue concentration.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9560" y="39776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1E2C4E"/>
          </a:solidFill>
          <a:ln w="15875">
            <a:solidFill>
              <a:srgbClr val="32406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348472" y="4966335"/>
            <a:ext cx="778337" cy="-376047"/>
          </a:xfrm>
          <a:prstGeom prst="line">
            <a:avLst/>
          </a:prstGeom>
          <a:noFill/>
          <a:ln w="31750">
            <a:solidFill>
              <a:srgbClr val="56B4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6809" y="4590288"/>
            <a:ext cx="833933" cy="214884"/>
          </a:xfrm>
          <a:prstGeom prst="line">
            <a:avLst/>
          </a:prstGeom>
          <a:noFill/>
          <a:ln w="31750">
            <a:solidFill>
              <a:srgbClr val="56B4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0742" y="4805172"/>
            <a:ext cx="1167506" cy="-590931"/>
          </a:xfrm>
          <a:prstGeom prst="line">
            <a:avLst/>
          </a:prstGeom>
          <a:noFill/>
          <a:ln w="31750">
            <a:solidFill>
              <a:srgbClr val="E69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5532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Interactive 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Snapshot]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&amp; Europe Drove Global Growth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Post-2000, While Japan Flattened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55141" y="4246016"/>
            <a:ext cx="1430195" cy="-657362"/>
          </a:xfrm>
          <a:prstGeom prst="line">
            <a:avLst/>
          </a:prstGeom>
          <a:noFill/>
          <a:ln w="31750">
            <a:solidFill>
              <a:srgbClr val="56B4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5336" y="3588654"/>
            <a:ext cx="1532352" cy="375636"/>
          </a:xfrm>
          <a:prstGeom prst="line">
            <a:avLst/>
          </a:prstGeom>
          <a:noFill/>
          <a:ln w="31750">
            <a:solidFill>
              <a:srgbClr val="56B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7687" y="3964290"/>
            <a:ext cx="2145292" cy="-1032998"/>
          </a:xfrm>
          <a:prstGeom prst="line">
            <a:avLst/>
          </a:prstGeom>
          <a:noFill/>
          <a:ln w="3175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Plotly Line Chart: Regional Sales Trend, 1980–2016]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NA: historical volume leader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accounts for the largest cumulative unit volume across every console generation since 1980.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EU: fastest post-2000 growth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sales accelerated sharply after 2000, closing much of the gap with North America by 2010.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JP: plateaued, went niche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sales flattened post-2005 and concentrated into handheld and niche-genre segments.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SHIFTS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RPGs Rule Japan, While Action and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Shooters Dominate Western Markets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55141" y="4152108"/>
            <a:ext cx="1153516" cy="563453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5141" y="3588654"/>
            <a:ext cx="1153516" cy="563453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5141" y="2837383"/>
            <a:ext cx="1153516" cy="751271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3248" y="3776472"/>
            <a:ext cx="1153516" cy="939089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3248" y="3400836"/>
            <a:ext cx="1153516" cy="375636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3248" y="2837383"/>
            <a:ext cx="1153516" cy="563453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1356" y="4339925"/>
            <a:ext cx="1153516" cy="375636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1356" y="3400836"/>
            <a:ext cx="1153516" cy="939089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1356" y="2837383"/>
            <a:ext cx="1153516" cy="563453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9464" y="3964290"/>
            <a:ext cx="1153516" cy="751271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9464" y="3213019"/>
            <a:ext cx="1153516" cy="751271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9464" y="2837383"/>
            <a:ext cx="1153516" cy="375636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Stacked Bar Chart: Genre Share of Sales by Region]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genre mix skews RPG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games hold the largest share of Japanese sales, far above their Western share.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&amp; EU favor Action/Shooter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and shooter titles dominate North American and European charts, reflecting console-first ecosystems.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is a strategy issue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split implies publishers should tune marketing spend and release slates by market, not globally.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GENRE PREFERENCES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COMMERCIAL PERFORMANCE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Critic Scores (&gt;80) Strongly Correlate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Blockbuster Sales Success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64813" y="4294205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6" name="Shape 4"/>
          <p:cNvSpPr/>
          <p:nvPr/>
        </p:nvSpPr>
        <p:spPr>
          <a:xfrm>
            <a:off x="2075597" y="3824661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7" name="Shape 5"/>
          <p:cNvSpPr/>
          <p:nvPr/>
        </p:nvSpPr>
        <p:spPr>
          <a:xfrm>
            <a:off x="2739616" y="4106388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8" name="Shape 6"/>
          <p:cNvSpPr/>
          <p:nvPr/>
        </p:nvSpPr>
        <p:spPr>
          <a:xfrm>
            <a:off x="3097164" y="3542934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9" name="Shape 7"/>
          <p:cNvSpPr/>
          <p:nvPr/>
        </p:nvSpPr>
        <p:spPr>
          <a:xfrm>
            <a:off x="3607948" y="3730752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0" name="Shape 8"/>
          <p:cNvSpPr/>
          <p:nvPr/>
        </p:nvSpPr>
        <p:spPr>
          <a:xfrm>
            <a:off x="4118732" y="3261208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1" name="Shape 9"/>
          <p:cNvSpPr/>
          <p:nvPr/>
        </p:nvSpPr>
        <p:spPr>
          <a:xfrm>
            <a:off x="4476281" y="3636843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7064" y="3129735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5692" y="3355116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06475" y="2979481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Scatter Plot: Critic Score vs. Global Sales, trendline overlay]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4688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0" y="24688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score threshold marking a step-change in average unit sales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361188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37033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6B4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0" y="37033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sales multiple for 80+ titles vs. sub-60 rated titles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43800" y="484632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49377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Gatekeeper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49377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acts as a quality signal that precedes multi-million unit outcomes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RATINGS VS. SALES 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Nintendo's 2006 Casual Boom Outpaced Rivals</a:t>
            </a:r>
            <a:endParaRPr lang="en-US" sz="2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Sony Reclaimed Market Share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2788920"/>
          </a:xfrm>
          <a:prstGeom prst="roundRect">
            <a:avLst>
              <a:gd name="adj" fmla="val 1967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55141" y="2939705"/>
            <a:ext cx="5107838" cy="1232703"/>
          </a:xfrm>
          <a:prstGeom prst="roundRect">
            <a:avLst/>
          </a:prstGeom>
          <a:solidFill>
            <a:srgbClr val="56B4E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55141" y="3809848"/>
            <a:ext cx="2043135" cy="-797631"/>
          </a:xfrm>
          <a:prstGeom prst="line">
            <a:avLst/>
          </a:prstGeom>
          <a:noFill/>
          <a:ln w="31750">
            <a:solidFill>
              <a:srgbClr val="56B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98276" y="3012216"/>
            <a:ext cx="3064703" cy="72512"/>
          </a:xfrm>
          <a:prstGeom prst="line">
            <a:avLst/>
          </a:prstGeom>
          <a:noFill/>
          <a:ln w="3175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55371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Area Chart: Market Share by Manufacturer, 1994–2016]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1545336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5394960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1994–98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562356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/ N64 era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85416" y="5349240"/>
            <a:ext cx="1545336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5394960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2000–05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562356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dominance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22192" y="5349240"/>
            <a:ext cx="1545336" cy="594360"/>
          </a:xfrm>
          <a:prstGeom prst="roundRect">
            <a:avLst>
              <a:gd name="adj" fmla="val 9231"/>
            </a:avLst>
          </a:prstGeom>
          <a:solidFill>
            <a:srgbClr val="FCEFD6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5394960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2006–09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77056" y="562356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 casual boom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58968" y="5349240"/>
            <a:ext cx="1545336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5394960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13832" y="562356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reclaims (PS4)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 disrupted the cycle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01000" y="2596896"/>
            <a:ext cx="3611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Nintendo's Wii (2006) drove a casual-market surge that briefly outpaced Sony and Microsoft hardware sales.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43800" y="33649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32826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Sony's long-run dominance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01000" y="3557016"/>
            <a:ext cx="3611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and later PS4 anchor Sony's largest total install-base and lifetime software attach sales.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43800" y="43251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42428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steady 3rd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01000" y="4517136"/>
            <a:ext cx="3611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Xbox/Xbox One maintained a consistent but smaller share, concentrated in NA and EU.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PS2 and Nintendo DS Held the Highest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of Multi-Million Sellers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121317" y="2837383"/>
            <a:ext cx="0" cy="1878178"/>
          </a:xfrm>
          <a:prstGeom prst="line">
            <a:avLst/>
          </a:prstGeom>
          <a:noFill/>
          <a:ln w="19050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5285" y="3438400"/>
            <a:ext cx="512064" cy="676144"/>
          </a:xfrm>
          <a:prstGeom prst="roundRect">
            <a:avLst>
              <a:gd name="adj" fmla="val 5357"/>
            </a:avLst>
          </a:prstGeom>
          <a:solidFill>
            <a:srgbClr val="56B4E9"/>
          </a:solidFill>
          <a:ln w="9525">
            <a:solidFill>
              <a:srgbClr val="1623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3668" y="2837383"/>
            <a:ext cx="0" cy="1878178"/>
          </a:xfrm>
          <a:prstGeom prst="line">
            <a:avLst/>
          </a:prstGeom>
          <a:noFill/>
          <a:ln w="19050">
            <a:solidFill>
              <a:srgbClr val="DC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97636" y="3438400"/>
            <a:ext cx="512064" cy="676144"/>
          </a:xfrm>
          <a:prstGeom prst="roundRect">
            <a:avLst>
              <a:gd name="adj" fmla="val 5357"/>
            </a:avLst>
          </a:prstGeom>
          <a:solidFill>
            <a:srgbClr val="E69F00"/>
          </a:solidFill>
          <a:ln w="9525">
            <a:solidFill>
              <a:srgbClr val="1623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020" y="2837383"/>
            <a:ext cx="0" cy="1878178"/>
          </a:xfrm>
          <a:prstGeom prst="line">
            <a:avLst/>
          </a:prstGeom>
          <a:noFill/>
          <a:ln w="19050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29988" y="3438400"/>
            <a:ext cx="512064" cy="676144"/>
          </a:xfrm>
          <a:prstGeom prst="roundRect">
            <a:avLst>
              <a:gd name="adj" fmla="val 5357"/>
            </a:avLst>
          </a:prstGeom>
          <a:solidFill>
            <a:srgbClr val="56B4E9"/>
          </a:solidFill>
          <a:ln w="9525">
            <a:solidFill>
              <a:srgbClr val="16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Boxplot: Global Sales Distribution, Top 10 Platforms]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PS2: widest hit density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PS2's box shows the highest median with a long right tail of multi-million unit outliers — the deepest hit library.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longevity + breadth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 DS combines a long commercial lifespan with a broad base of consistently strong sellers.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signal franchise power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outliers on both platforms map directly to flagship franchises (Mario, GTA, Pokémon).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LIFESPAN &amp; REVENUE DISTRIBUTION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ANALYSIS ·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Publishers Face Widening Gaps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Critic Reviews and User Scores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55141" y="4058199"/>
            <a:ext cx="933785" cy="657362"/>
          </a:xfrm>
          <a:prstGeom prst="roundRect">
            <a:avLst>
              <a:gd name="adj" fmla="val 4173"/>
            </a:avLst>
          </a:prstGeom>
          <a:solidFill>
            <a:srgbClr val="56B4E9"/>
          </a:solidFill>
          <a:ln/>
        </p:spPr>
      </p:sp>
      <p:sp>
        <p:nvSpPr>
          <p:cNvPr id="6" name="Shape 4"/>
          <p:cNvSpPr/>
          <p:nvPr/>
        </p:nvSpPr>
        <p:spPr>
          <a:xfrm>
            <a:off x="2398654" y="3551091"/>
            <a:ext cx="933785" cy="1164470"/>
          </a:xfrm>
          <a:prstGeom prst="roundRect">
            <a:avLst>
              <a:gd name="adj" fmla="val 2938"/>
            </a:avLst>
          </a:prstGeom>
          <a:solidFill>
            <a:srgbClr val="56B4E9"/>
          </a:solidFill>
          <a:ln/>
        </p:spPr>
      </p:sp>
      <p:sp>
        <p:nvSpPr>
          <p:cNvPr id="7" name="Shape 5"/>
          <p:cNvSpPr/>
          <p:nvPr/>
        </p:nvSpPr>
        <p:spPr>
          <a:xfrm>
            <a:off x="3442167" y="3814036"/>
            <a:ext cx="933785" cy="901525"/>
          </a:xfrm>
          <a:prstGeom prst="roundRect">
            <a:avLst>
              <a:gd name="adj" fmla="val 3043"/>
            </a:avLst>
          </a:prstGeom>
          <a:solidFill>
            <a:srgbClr val="E69F00"/>
          </a:solidFill>
          <a:ln/>
        </p:spPr>
      </p:sp>
      <p:sp>
        <p:nvSpPr>
          <p:cNvPr id="8" name="Shape 6"/>
          <p:cNvSpPr/>
          <p:nvPr/>
        </p:nvSpPr>
        <p:spPr>
          <a:xfrm>
            <a:off x="4485681" y="3119110"/>
            <a:ext cx="933785" cy="1596451"/>
          </a:xfrm>
          <a:prstGeom prst="roundRect">
            <a:avLst>
              <a:gd name="adj" fmla="val 2938"/>
            </a:avLst>
          </a:prstGeom>
          <a:solidFill>
            <a:srgbClr val="56B4E9"/>
          </a:solidFill>
          <a:ln/>
        </p:spPr>
      </p:sp>
      <p:sp>
        <p:nvSpPr>
          <p:cNvPr id="9" name="Shape 7"/>
          <p:cNvSpPr/>
          <p:nvPr/>
        </p:nvSpPr>
        <p:spPr>
          <a:xfrm>
            <a:off x="5529194" y="3626218"/>
            <a:ext cx="933785" cy="1089343"/>
          </a:xfrm>
          <a:prstGeom prst="roundRect">
            <a:avLst>
              <a:gd name="adj" fmla="val 2938"/>
            </a:avLst>
          </a:prstGeom>
          <a:solidFill>
            <a:srgbClr val="56B4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Diverging Bar Chart: Critic vs. User Score Gap, Top 8 Publishers]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is publisher-specific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8 publishers by volume show materially different critic-vs-user gaps — not a uniform industry pattern.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critic-favored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with critic scores well above user scores may be over-indexing on production polish over player experience.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risk for live titles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gaps are an early signal worth monitoring for franchises with recurring annual releases.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VS. USER SCORE DISPARITY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ANALYSIS ·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“Everyone” (E) and “Mature” (M) Ratings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for Over 70% of Industry Revenue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2611" y="2837383"/>
            <a:ext cx="1878178" cy="1878178"/>
          </a:xfrm>
          <a:prstGeom prst="pie">
            <a:avLst>
              <a:gd name="adj1" fmla="val 0"/>
              <a:gd name="adj2" fmla="val 15300000"/>
            </a:avLst>
          </a:prstGeom>
          <a:solidFill>
            <a:srgbClr val="E6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2611" y="2837383"/>
            <a:ext cx="1878178" cy="1878178"/>
          </a:xfrm>
          <a:prstGeom prst="pie">
            <a:avLst>
              <a:gd name="adj1" fmla="val 15300000"/>
              <a:gd name="adj2" fmla="val 21600000"/>
            </a:avLst>
          </a:prstGeom>
          <a:solidFill>
            <a:srgbClr val="56B4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592" y="3269364"/>
            <a:ext cx="1014216" cy="1014216"/>
          </a:xfrm>
          <a:prstGeom prst="ellipse">
            <a:avLst/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3766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Donut Chart: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ESRB Rating]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2331720"/>
            <a:ext cx="3291840" cy="3611880"/>
          </a:xfrm>
          <a:prstGeom prst="roundRect">
            <a:avLst>
              <a:gd name="adj" fmla="val 1667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372661" y="4152108"/>
            <a:ext cx="502006" cy="563453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2661" y="3588654"/>
            <a:ext cx="502006" cy="563453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2661" y="2837383"/>
            <a:ext cx="502006" cy="751271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39258" y="3776472"/>
            <a:ext cx="502006" cy="939089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39258" y="3400836"/>
            <a:ext cx="502006" cy="375636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39258" y="2837383"/>
            <a:ext cx="502006" cy="563453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5856" y="4339925"/>
            <a:ext cx="502006" cy="375636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5856" y="3400836"/>
            <a:ext cx="502006" cy="939089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5856" y="2837383"/>
            <a:ext cx="502006" cy="563453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2454" y="3964290"/>
            <a:ext cx="502006" cy="751271"/>
          </a:xfrm>
          <a:prstGeom prst="rect">
            <a:avLst/>
          </a:prstGeom>
          <a:solidFill>
            <a:srgbClr val="56B4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2454" y="3213019"/>
            <a:ext cx="502006" cy="751271"/>
          </a:xfrm>
          <a:prstGeom prst="rect">
            <a:avLst/>
          </a:prstGeom>
          <a:solidFill>
            <a:srgbClr val="E6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2454" y="2837383"/>
            <a:ext cx="502006" cy="375636"/>
          </a:xfrm>
          <a:prstGeom prst="rect">
            <a:avLst/>
          </a:prstGeom>
          <a:solidFill>
            <a:srgbClr val="009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53766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Grouped Bar: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Mix by Region]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+ M = 70%+ of revenue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Everyone- and Mature-rated titles generate more than seven-tenths of total industry sales.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rating skew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titles over-index in NA/EU; Everyone-rated titles carry a larger relative share in Japan.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release slate across E and M ratings hedges regional demographic risk.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ESRB REVENUE BREAKDOWN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 ·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Saturation: Higher Annual Release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Diminishes Average Sales per Title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720840" cy="3611880"/>
          </a:xfrm>
          <a:prstGeom prst="roundRect">
            <a:avLst>
              <a:gd name="adj" fmla="val 1519"/>
            </a:avLst>
          </a:prstGeom>
          <a:solidFill>
            <a:srgbClr val="EEF1F6"/>
          </a:solidFill>
          <a:ln w="15875">
            <a:solidFill>
              <a:srgbClr val="DCE1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64813" y="4294205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6" name="Shape 4"/>
          <p:cNvSpPr/>
          <p:nvPr/>
        </p:nvSpPr>
        <p:spPr>
          <a:xfrm>
            <a:off x="2075597" y="3824661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7" name="Shape 5"/>
          <p:cNvSpPr/>
          <p:nvPr/>
        </p:nvSpPr>
        <p:spPr>
          <a:xfrm>
            <a:off x="2739616" y="4106388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8" name="Shape 6"/>
          <p:cNvSpPr/>
          <p:nvPr/>
        </p:nvSpPr>
        <p:spPr>
          <a:xfrm>
            <a:off x="3097164" y="3542934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9" name="Shape 7"/>
          <p:cNvSpPr/>
          <p:nvPr/>
        </p:nvSpPr>
        <p:spPr>
          <a:xfrm>
            <a:off x="3607948" y="3730752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0" name="Shape 8"/>
          <p:cNvSpPr/>
          <p:nvPr/>
        </p:nvSpPr>
        <p:spPr>
          <a:xfrm>
            <a:off x="4118732" y="3261208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1" name="Shape 9"/>
          <p:cNvSpPr/>
          <p:nvPr/>
        </p:nvSpPr>
        <p:spPr>
          <a:xfrm>
            <a:off x="4476281" y="3636843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7064" y="3129735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5692" y="3355116"/>
            <a:ext cx="100584" cy="100584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06475" y="2979481"/>
            <a:ext cx="100584" cy="10058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376672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Scatter Plot: Annual Releases vs. Average Global Sales per Title]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2404872"/>
            <a:ext cx="310896" cy="31089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23225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volume relationship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01000" y="259689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with the highest release counts (peaking mid-2000s–2010s) show the lowest average sales per title.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3593592"/>
            <a:ext cx="310896" cy="310896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35112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the scarce resource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01000" y="378561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titles compete for a relatively fixed pool of consumer spend, thinning average returns.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43800" y="4782312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01000" y="470001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beats volume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01000" y="4974336"/>
            <a:ext cx="36118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2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favors fewer, higher-quality releases over aggressive annual output.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DENSITY VS. SALES YIELD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6510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· 1980–2016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Live Interactive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256032" cy="25603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50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2768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and EU now anchor global growth; Japan's demand has shifted to handheld, niche-genre play.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256032" cy="25603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9626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genre and ESRB-rating mix diverge sharply — one-size-fits-all release strategy underperforms.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256032" cy="25603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21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6484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scores above 80 are a reliable leading indicator of blockbuster commercial outcomes.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256032" cy="25603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07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3342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Nintendo, Sony, and Microsoft each led distinct hardware eras; PS2 and DS post the deepest hit libraries.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93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50200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Release-volume saturation erodes average sales per title — curated slates outperform sheer output.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868680"/>
            <a:ext cx="3840480" cy="3246120"/>
          </a:xfrm>
          <a:prstGeom prst="roundRect">
            <a:avLst>
              <a:gd name="adj" fmla="val 2254"/>
            </a:avLst>
          </a:prstGeom>
          <a:solidFill>
            <a:srgbClr val="22345A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051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Streamlit Community Cloud Link]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1965960"/>
            <a:ext cx="3383280" cy="0"/>
          </a:xfrm>
          <a:prstGeom prst="line">
            <a:avLst/>
          </a:prstGeom>
          <a:noFill/>
          <a:ln w="12700">
            <a:solidFill>
              <a:srgbClr val="3240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GitHub Repo URL]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32520" y="2971800"/>
            <a:ext cx="155448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3240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306324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9" name="Shape 27"/>
          <p:cNvSpPr/>
          <p:nvPr/>
        </p:nvSpPr>
        <p:spPr>
          <a:xfrm>
            <a:off x="9372600" y="306324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0" name="Shape 28"/>
          <p:cNvSpPr/>
          <p:nvPr/>
        </p:nvSpPr>
        <p:spPr>
          <a:xfrm>
            <a:off x="9921240" y="306324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098280" y="333756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2" name="Shape 30"/>
          <p:cNvSpPr/>
          <p:nvPr/>
        </p:nvSpPr>
        <p:spPr>
          <a:xfrm>
            <a:off x="9646920" y="333756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3" name="Shape 31"/>
          <p:cNvSpPr/>
          <p:nvPr/>
        </p:nvSpPr>
        <p:spPr>
          <a:xfrm>
            <a:off x="8823960" y="361188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4" name="Shape 32"/>
          <p:cNvSpPr/>
          <p:nvPr/>
        </p:nvSpPr>
        <p:spPr>
          <a:xfrm>
            <a:off x="9372600" y="361188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5" name="Shape 33"/>
          <p:cNvSpPr/>
          <p:nvPr/>
        </p:nvSpPr>
        <p:spPr>
          <a:xfrm>
            <a:off x="9921240" y="361188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6" name="Shape 34"/>
          <p:cNvSpPr/>
          <p:nvPr/>
        </p:nvSpPr>
        <p:spPr>
          <a:xfrm>
            <a:off x="9098280" y="388620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7" name="Shape 35"/>
          <p:cNvSpPr/>
          <p:nvPr/>
        </p:nvSpPr>
        <p:spPr>
          <a:xfrm>
            <a:off x="9646920" y="388620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8" name="Shape 36"/>
          <p:cNvSpPr/>
          <p:nvPr/>
        </p:nvSpPr>
        <p:spPr>
          <a:xfrm>
            <a:off x="8823960" y="416052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9" name="Shape 37"/>
          <p:cNvSpPr/>
          <p:nvPr/>
        </p:nvSpPr>
        <p:spPr>
          <a:xfrm>
            <a:off x="9372600" y="416052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0" name="Shape 38"/>
          <p:cNvSpPr/>
          <p:nvPr/>
        </p:nvSpPr>
        <p:spPr>
          <a:xfrm>
            <a:off x="9921240" y="4160520"/>
            <a:ext cx="219456" cy="21945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→ GitHub Repo]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Data Visualization Final Project · Summer 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2026-08-04T11:21:12Z</dcterms:created>
  <dcterms:modified xsi:type="dcterms:W3CDTF">2026-08-04T11:21:12Z</dcterms:modified>
</cp:coreProperties>
</file>